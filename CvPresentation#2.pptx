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61" r:id="rId2"/>
    <p:sldId id="262" r:id="rId3"/>
    <p:sldId id="281" r:id="rId4"/>
    <p:sldId id="296" r:id="rId5"/>
    <p:sldId id="309" r:id="rId6"/>
    <p:sldId id="297" r:id="rId7"/>
    <p:sldId id="298" r:id="rId8"/>
    <p:sldId id="300" r:id="rId9"/>
    <p:sldId id="301" r:id="rId10"/>
    <p:sldId id="310" r:id="rId11"/>
    <p:sldId id="307" r:id="rId12"/>
    <p:sldId id="264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mir Salimzyanov" initials="RS" lastIdx="8" clrIdx="0"/>
  <p:cmAuthor id="2" name="Валерий" initials="В" lastIdx="1" clrIdx="1"/>
  <p:cmAuthor id="3" name="Салимзянов Радмир Ренатович" initials="СРР" lastIdx="1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B4181-C911-4C38-B442-41128EA78ECA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21C6D-79B9-46C1-8E88-AB87E4D6D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98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A97F7-BEA5-B2BB-448D-675B7E829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5CCD3F-099C-E4F5-40DF-BB609CFF7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4E60E1-3B81-EAF1-B48A-FB1CDE5A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F0C359-38E9-4885-82A5-327CEC54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011ECB-6AAF-9632-A5FE-CE429C56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51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89C21-B332-C06C-A429-82A8929F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9FB00-D012-66E0-0440-CFFBA002A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355EA0-B096-62DB-A8E5-0BD74F80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4F7086-131F-5D37-4F28-B4A346CF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6F2976-E161-3DA0-59CB-8F0412EF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65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A887A-9526-796E-A9BB-38AD86EF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54B314-7418-C056-09CA-932CCE8B9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0B4507-207F-9BE1-1295-6794F9A4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52EF7A-F413-D21E-AD17-6BCAFCBB8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7A76BF-9F7F-1F86-19C2-CB74D831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25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E244F-6C06-3844-1CD2-A2E5E649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229C16-4459-0EA8-A83C-7B35409F8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BEF1F7-B136-04FD-47C4-DF6D1B2D9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1495F9-D840-2522-4086-0053F880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86AE81-8D29-78A9-E029-8346E2E3F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59E4B9-F524-5FCE-749B-2F5FA56B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28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97C39-E5AB-B0D4-456E-17BB987D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1457CC-00FE-C215-ACDC-F57AAF4FB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0F704C-94F5-EFD9-4BB2-3052E71A2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A4577-FF14-FD4F-235F-169AF31E8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CBAD938-8FF0-91E0-54EA-05ACA5737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72CD762-4BF0-CF38-A029-1B7DD39B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570DC9-3113-FCFE-8660-70B02073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F1BA123-6367-0221-A771-98E0F3B1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1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EE3EE-A96A-676F-1FBA-C758AB30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3A2ED0-F407-A08C-9238-291D5DF6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09B48EE-C090-8E18-F36A-24B09239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A60762-1086-637A-6872-BD0D5089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27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BD6AEE-60BA-FF70-728D-437393AD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E7CC02-CBBF-921B-3CFD-8C11A000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4E4C49-F8CB-5481-3FE7-FDE97EA1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974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6FDF73-3156-B690-24F4-AA94C73EB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4445D7-859B-91C7-06F9-23F2EF102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DE6D8D-4620-C79A-E9BD-B2386A3A9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A3920B-509C-D400-5B30-9378A6AD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604955-E4AC-5580-1DCC-EB580885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94772E-CEB1-90AA-2010-EF919C13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06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0C532-4F8F-24B4-7EF9-27B164650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FC47E8-20F0-C857-B01B-804584F46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46CBEE-3EAB-1B46-6791-7CF2BEFDB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BB636F-E0CF-553A-1074-82967EAAD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6D23CA-5D50-C951-2252-C364B5FF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B0D5C8-1342-5B37-A97E-39718AED6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859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758D1-40CF-FB71-F6F5-09C6208D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1B78A6-D8E5-1E1D-30AA-51B1DEED1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25E1E5-0620-0368-AC3F-98D78FCE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389E2F-CFE7-ADCB-733E-90BF62C1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7D844-E0CA-AF80-98CC-3CB7548F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119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E3315E5-7ECB-F4F8-8463-D0B60D0E8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581F40-08D2-7D87-9B46-9B751DDA3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02D8C4-E415-40E2-13BE-4A2BFEBF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91B19-8828-03B6-E465-C78C0D7FB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309C5A-52A5-BD56-CD97-EB8FCBC6B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889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сновной шабл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890519" y="6044768"/>
            <a:ext cx="2743200" cy="365125"/>
          </a:xfrm>
        </p:spPr>
        <p:txBody>
          <a:bodyPr/>
          <a:lstStyle/>
          <a:p>
            <a:fld id="{FCF762AA-6FF4-4CA2-8039-65A321A800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855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DE5C4-C13E-BB4D-0533-FA77CC565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B5CB21-3659-2E7A-0521-0CA20FF23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755BD9-AB5A-7C44-DB49-A45F0FFCE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7EBE7F-5C94-BFD3-32A4-2320AB72F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461CCA-5A9E-2E66-33C7-A00E4C192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84197-66CD-494E-B0C0-C2711702E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17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0"/>
          <p:cNvSpPr txBox="1">
            <a:spLocks/>
          </p:cNvSpPr>
          <p:nvPr/>
        </p:nvSpPr>
        <p:spPr>
          <a:xfrm>
            <a:off x="916000" y="2350980"/>
            <a:ext cx="10359992" cy="1348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РАСПОЗНАВАНИЕ ОБРАЗОВ И КОМПЬЮТЕРНОЕ ЗРЕНИЕ.</a:t>
            </a:r>
          </a:p>
          <a:p>
            <a:pPr>
              <a:defRPr sz="1800"/>
            </a:pPr>
            <a:r>
              <a:rPr lang="ru-RU" sz="2800" dirty="0"/>
              <a:t>Лабораторная №2:</a:t>
            </a:r>
          </a:p>
          <a:p>
            <a:pPr>
              <a:defRPr sz="1800"/>
            </a:pPr>
            <a:r>
              <a:rPr lang="ru-RU" sz="2800" dirty="0"/>
              <a:t>Гистограммы, профили и проекции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0DFA5B-0926-4444-AE50-972360B24E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35" y="5624299"/>
            <a:ext cx="1767420" cy="785594"/>
          </a:xfrm>
          <a:prstGeom prst="rect">
            <a:avLst/>
          </a:prstGeom>
        </p:spPr>
      </p:pic>
      <p:sp>
        <p:nvSpPr>
          <p:cNvPr id="8" name="Shape 10">
            <a:extLst>
              <a:ext uri="{FF2B5EF4-FFF2-40B4-BE49-F238E27FC236}">
                <a16:creationId xmlns:a16="http://schemas.microsoft.com/office/drawing/2014/main" id="{D2C7DBD8-44C1-4DAB-AA24-C9DC33A39923}"/>
              </a:ext>
            </a:extLst>
          </p:cNvPr>
          <p:cNvSpPr txBox="1">
            <a:spLocks/>
          </p:cNvSpPr>
          <p:nvPr/>
        </p:nvSpPr>
        <p:spPr>
          <a:xfrm>
            <a:off x="3906156" y="3819481"/>
            <a:ext cx="4379681" cy="3947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1400" dirty="0"/>
              <a:t>Шмаков Валерий Витальевич, гр. 932301</a:t>
            </a: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B48C24C7-797D-4AD7-86AE-0AD954487E35}"/>
              </a:ext>
            </a:extLst>
          </p:cNvPr>
          <p:cNvSpPr txBox="1">
            <a:spLocks/>
          </p:cNvSpPr>
          <p:nvPr/>
        </p:nvSpPr>
        <p:spPr>
          <a:xfrm>
            <a:off x="2372225" y="4163396"/>
            <a:ext cx="7447547" cy="3711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1400" b="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CB5E3BA-EC70-4749-82E2-358C5888DEEA}"/>
              </a:ext>
            </a:extLst>
          </p:cNvPr>
          <p:cNvSpPr txBox="1">
            <a:spLocks/>
          </p:cNvSpPr>
          <p:nvPr/>
        </p:nvSpPr>
        <p:spPr>
          <a:xfrm>
            <a:off x="916001" y="96862"/>
            <a:ext cx="10359992" cy="8353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 sz="1800"/>
            </a:pPr>
            <a:r>
              <a:rPr lang="ru-RU" sz="1600" b="0" dirty="0"/>
              <a:t>Направление подготовки 02.03.02 Фундаментальная информатика и информационные технологии </a:t>
            </a:r>
          </a:p>
          <a:p>
            <a:pPr>
              <a:lnSpc>
                <a:spcPct val="150000"/>
              </a:lnSpc>
              <a:defRPr sz="1800"/>
            </a:pPr>
            <a:r>
              <a:rPr lang="ru-RU" sz="1600" b="0" dirty="0"/>
              <a:t>Направленность (профиль) «Искусственный интеллект и разработка программных продуктов»</a:t>
            </a:r>
          </a:p>
        </p:txBody>
      </p:sp>
    </p:spTree>
    <p:extLst>
      <p:ext uri="{BB962C8B-B14F-4D97-AF65-F5344CB8AC3E}">
        <p14:creationId xmlns:p14="http://schemas.microsoft.com/office/powerpoint/2010/main" val="78965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0"/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Цель и задания работы</a:t>
            </a:r>
          </a:p>
        </p:txBody>
      </p:sp>
      <p:pic>
        <p:nvPicPr>
          <p:cNvPr id="9" name="image1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/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1563CA62-8C63-478E-BBDB-5D9D90E3D647}"/>
              </a:ext>
            </a:extLst>
          </p:cNvPr>
          <p:cNvSpPr txBox="1">
            <a:spLocks/>
          </p:cNvSpPr>
          <p:nvPr/>
        </p:nvSpPr>
        <p:spPr>
          <a:xfrm>
            <a:off x="629778" y="929189"/>
            <a:ext cx="11121234" cy="7284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just">
              <a:defRPr sz="1800"/>
            </a:pPr>
            <a:r>
              <a:rPr lang="ru-RU" sz="2000" dirty="0"/>
              <a:t>Цель:</a:t>
            </a:r>
            <a:r>
              <a:rPr lang="ru-RU" sz="2000" b="0" dirty="0"/>
              <a:t> </a:t>
            </a:r>
            <a:r>
              <a:rPr lang="ru-RU" sz="1800" b="0" dirty="0"/>
              <a:t>Познакомиться с принципами работы профилями и проекциями, интерпретировав их в гистограммы.</a:t>
            </a:r>
            <a:endParaRPr lang="ru-RU" sz="2000" b="0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73D22037-9BF0-468D-8ABD-0C36909EA933}"/>
              </a:ext>
            </a:extLst>
          </p:cNvPr>
          <p:cNvSpPr txBox="1">
            <a:spLocks/>
          </p:cNvSpPr>
          <p:nvPr/>
        </p:nvSpPr>
        <p:spPr>
          <a:xfrm>
            <a:off x="3216000" y="1657622"/>
            <a:ext cx="5760000" cy="288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Tx/>
              <a:buFontTx/>
              <a:buNone/>
              <a:defRPr sz="2700" kern="1200">
                <a:solidFill>
                  <a:srgbClr val="535353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ru-RU" sz="2000" b="1" dirty="0">
                <a:solidFill>
                  <a:schemeClr val="tx1"/>
                </a:solidFill>
              </a:rPr>
              <a:t>Задания варианта №9:</a:t>
            </a:r>
          </a:p>
          <a:p>
            <a:pPr marL="342900" indent="-342900" algn="l"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1800" dirty="0">
                <a:solidFill>
                  <a:srgbClr val="000000"/>
                </a:solidFill>
              </a:rPr>
              <a:t>Построить гистограмму серого изображения и найти пик интенсивности с наибольшим количеством пикселей.</a:t>
            </a:r>
          </a:p>
          <a:p>
            <a:pPr marL="342900" indent="-342900" algn="l"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1800" dirty="0">
                <a:solidFill>
                  <a:srgbClr val="000000"/>
                </a:solidFill>
              </a:rPr>
              <a:t>Построить профили изображения после применения фильтра Лапласа.</a:t>
            </a:r>
          </a:p>
          <a:p>
            <a:pPr marL="342900" indent="-342900" algn="l"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1800" dirty="0">
                <a:solidFill>
                  <a:srgbClr val="000000"/>
                </a:solidFill>
              </a:rPr>
              <a:t>Построить горизонтальную проекцию и определить строки с максимумом интенсивности.</a:t>
            </a:r>
          </a:p>
          <a:p>
            <a:pPr marL="342900" indent="-342900" algn="l"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1800" dirty="0">
                <a:solidFill>
                  <a:srgbClr val="000000"/>
                </a:solidFill>
              </a:rPr>
              <a:t>Построить вертикальную проекцию и определить столбцы с максимумом интенсивности.</a:t>
            </a:r>
          </a:p>
          <a:p>
            <a:pPr marL="342900" indent="-342900" algn="l"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1800" dirty="0">
                <a:solidFill>
                  <a:srgbClr val="000000"/>
                </a:solidFill>
              </a:rPr>
              <a:t>Построить профили и проекции после бинаризации изображения с использованием метода Отсу.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641EEE-3024-289A-3DC6-0F11FAA8E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150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1A92-1143-11C3-A740-C8F4FDB15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0">
            <a:extLst>
              <a:ext uri="{FF2B5EF4-FFF2-40B4-BE49-F238E27FC236}">
                <a16:creationId xmlns:a16="http://schemas.microsoft.com/office/drawing/2014/main" id="{07866BF9-915C-4DED-BE65-A2E11935D048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Теоретическая справка</a:t>
            </a:r>
          </a:p>
        </p:txBody>
      </p:sp>
      <p:pic>
        <p:nvPicPr>
          <p:cNvPr id="9" name="image1.jpg">
            <a:extLst>
              <a:ext uri="{FF2B5EF4-FFF2-40B4-BE49-F238E27FC236}">
                <a16:creationId xmlns:a16="http://schemas.microsoft.com/office/drawing/2014/main" id="{05FE46A7-48DC-C7B6-B30B-EF62A201A6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>
            <a:extLst>
              <a:ext uri="{FF2B5EF4-FFF2-40B4-BE49-F238E27FC236}">
                <a16:creationId xmlns:a16="http://schemas.microsoft.com/office/drawing/2014/main" id="{EF5F44BA-CB6B-4736-2549-602B7123ED33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CAE187-BFC9-E002-F757-AE32D2565F95}"/>
                  </a:ext>
                </a:extLst>
              </p:cNvPr>
              <p:cNvSpPr txBox="1"/>
              <p:nvPr/>
            </p:nvSpPr>
            <p:spPr>
              <a:xfrm>
                <a:off x="559929" y="843524"/>
                <a:ext cx="11073790" cy="2187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sz="1600" b="1" dirty="0"/>
                  <a:t>Что такое проекция и профиль ? </a:t>
                </a:r>
                <a:r>
                  <a:rPr lang="ru-RU" sz="1600" dirty="0"/>
                  <a:t>Проекция и профиль сжимают двумерную матрицу изображения (</a:t>
                </a:r>
                <a14:m>
                  <m:oMath xmlns:m="http://schemas.openxmlformats.org/officeDocument/2006/math">
                    <m:r>
                      <a:rPr lang="ru-RU"/>
                      <m:t>2</m:t>
                    </m:r>
                    <m:r>
                      <a:rPr lang="ru-RU" i="1"/>
                      <m:t>𝐷</m:t>
                    </m:r>
                  </m:oMath>
                </a14:m>
                <a:r>
                  <a:rPr lang="ru-RU" sz="1600" dirty="0"/>
                  <a:t>) в одномерный массив (</a:t>
                </a:r>
                <a14:m>
                  <m:oMath xmlns:m="http://schemas.openxmlformats.org/officeDocument/2006/math">
                    <m:r>
                      <a:rPr lang="ru-RU"/>
                      <m:t>1</m:t>
                    </m:r>
                    <m:r>
                      <a:rPr lang="ru-RU" i="1"/>
                      <m:t>𝐷</m:t>
                    </m:r>
                  </m:oMath>
                </a14:m>
                <a:r>
                  <a:rPr lang="ru-RU" sz="1600" dirty="0"/>
                  <a:t>) вдоль определенной оси (по строкам или по столбцам).</a:t>
                </a:r>
              </a:p>
              <a:p>
                <a:pPr lvl="0"/>
                <a:r>
                  <a:rPr lang="ru-RU" sz="1600" b="1" dirty="0"/>
                  <a:t>Проекция изображения</a:t>
                </a:r>
                <a:r>
                  <a:rPr lang="ru-RU" sz="1600" dirty="0"/>
                  <a:t> — это </a:t>
                </a:r>
                <a:r>
                  <a:rPr lang="ru-RU" sz="1600" b="1" dirty="0"/>
                  <a:t>сумма</a:t>
                </a:r>
                <a:r>
                  <a:rPr lang="ru-RU" sz="1600" dirty="0"/>
                  <a:t> значений интенсивностей пикселей вдоль выбранного направления. Проекция показывает суммарную «массу» или объем яркости вдоль линии.</a:t>
                </a:r>
              </a:p>
              <a:p>
                <a:pPr lvl="0"/>
                <a:r>
                  <a:rPr lang="ru-RU" sz="1600" b="1" dirty="0"/>
                  <a:t>Профиль изображения</a:t>
                </a:r>
                <a:r>
                  <a:rPr lang="ru-RU" sz="1600" dirty="0"/>
                  <a:t> — это </a:t>
                </a:r>
                <a:r>
                  <a:rPr lang="ru-RU" sz="1600" b="1" dirty="0"/>
                  <a:t>среднее значение</a:t>
                </a:r>
                <a:r>
                  <a:rPr lang="ru-RU" sz="1600" dirty="0"/>
                  <a:t> (усредненная интенсивность) пикселей вдоль выбранного направления. Профиль показывает средний уровень яркости вдоль линии.</a:t>
                </a:r>
              </a:p>
              <a:p>
                <a:pPr lvl="0"/>
                <a:r>
                  <a:rPr lang="ru-RU" sz="1600" dirty="0"/>
                  <a:t>В </a:t>
                </a:r>
                <a:r>
                  <a:rPr lang="en-US" sz="1600" dirty="0"/>
                  <a:t>CV </a:t>
                </a:r>
                <a:r>
                  <a:rPr lang="ru-RU" sz="1600" dirty="0"/>
                  <a:t>они часто используются для поиска границ объектов, сегментации строк текста или анализа формы.</a:t>
                </a:r>
              </a:p>
              <a:p>
                <a:pPr algn="just">
                  <a:spcAft>
                    <a:spcPts val="600"/>
                  </a:spcAft>
                </a:pPr>
                <a:endParaRPr lang="ru-RU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CAE187-BFC9-E002-F757-AE32D2565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29" y="843524"/>
                <a:ext cx="11073790" cy="2187907"/>
              </a:xfrm>
              <a:prstGeom prst="rect">
                <a:avLst/>
              </a:prstGeom>
              <a:blipFill>
                <a:blip r:embed="rId3"/>
                <a:stretch>
                  <a:fillRect l="-330" r="-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052E9D-DC71-7666-8E43-C3183ABF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7858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590C-F2AB-162B-C470-266265A3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1.jpg">
            <a:extLst>
              <a:ext uri="{FF2B5EF4-FFF2-40B4-BE49-F238E27FC236}">
                <a16:creationId xmlns:a16="http://schemas.microsoft.com/office/drawing/2014/main" id="{0A9EF726-C095-DEB1-C14D-3B2068EBD9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>
            <a:extLst>
              <a:ext uri="{FF2B5EF4-FFF2-40B4-BE49-F238E27FC236}">
                <a16:creationId xmlns:a16="http://schemas.microsoft.com/office/drawing/2014/main" id="{3C6AE43C-3901-52AA-F390-F86938967762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77D428C0-AD27-7722-FB8F-F1E2F6361CF6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8128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1B426F2-3BB0-6F89-DB14-F7A8EAD1708D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52D52093-F91D-8347-5EC0-8305A195DB7B}"/>
              </a:ext>
            </a:extLst>
          </p:cNvPr>
          <p:cNvSpPr txBox="1">
            <a:spLocks/>
          </p:cNvSpPr>
          <p:nvPr/>
        </p:nvSpPr>
        <p:spPr>
          <a:xfrm>
            <a:off x="50800" y="44280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Задание №1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99CA1-F030-CD08-4522-8E2C9FB20472}"/>
              </a:ext>
            </a:extLst>
          </p:cNvPr>
          <p:cNvSpPr txBox="1"/>
          <p:nvPr/>
        </p:nvSpPr>
        <p:spPr>
          <a:xfrm>
            <a:off x="629779" y="843524"/>
            <a:ext cx="11194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dirty="0">
                <a:solidFill>
                  <a:srgbClr val="000000"/>
                </a:solidFill>
              </a:rPr>
              <a:t>Построить гистограмму серого изображения и найти пик интенсивности с наибольшим количеством пикселей.</a:t>
            </a:r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94A3A3-D231-6FEF-B188-442D6F726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9" y="1560666"/>
            <a:ext cx="4685434" cy="432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94D2AB-7F61-2090-5D5E-F79FA53F6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615" y="1451402"/>
            <a:ext cx="5067583" cy="4680000"/>
          </a:xfrm>
          <a:prstGeom prst="rect">
            <a:avLst/>
          </a:prstGeom>
        </p:spPr>
      </p:pic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DADCCD06-26F7-CA5B-570C-FCA64F11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942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1.jpg">
            <a:extLst>
              <a:ext uri="{FF2B5EF4-FFF2-40B4-BE49-F238E27FC236}">
                <a16:creationId xmlns:a16="http://schemas.microsoft.com/office/drawing/2014/main" id="{93D33E6A-C367-18C6-2B2E-F26EBF9276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hape 14">
            <a:extLst>
              <a:ext uri="{FF2B5EF4-FFF2-40B4-BE49-F238E27FC236}">
                <a16:creationId xmlns:a16="http://schemas.microsoft.com/office/drawing/2014/main" id="{AA3528BB-CB01-0C36-C507-90B8E2BC28BC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06B30B7-7879-7598-9084-49AC8281D6F3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8128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9BFBA2F1-58B1-87B2-BB2E-28DB4F7A4DFF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6AB1F773-C82B-0348-EEC7-BF45B4FD4BE5}"/>
              </a:ext>
            </a:extLst>
          </p:cNvPr>
          <p:cNvSpPr txBox="1">
            <a:spLocks/>
          </p:cNvSpPr>
          <p:nvPr/>
        </p:nvSpPr>
        <p:spPr>
          <a:xfrm>
            <a:off x="50800" y="44280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Задание №1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0BAFCF-FFE1-76CE-A936-BFF0DF44CE33}"/>
              </a:ext>
            </a:extLst>
          </p:cNvPr>
          <p:cNvSpPr txBox="1"/>
          <p:nvPr/>
        </p:nvSpPr>
        <p:spPr>
          <a:xfrm>
            <a:off x="629779" y="843524"/>
            <a:ext cx="11194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dirty="0">
                <a:solidFill>
                  <a:srgbClr val="000000"/>
                </a:solidFill>
              </a:rPr>
              <a:t>Построить гистограмму серого изображения и найти пик интенсивности с наибольшим количеством пикселей.</a:t>
            </a:r>
            <a:endParaRPr lang="ru-RU" sz="20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9D147BC1-8547-B07F-120C-7F9879AC6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056" y="1489855"/>
            <a:ext cx="7227888" cy="3893222"/>
          </a:xfrm>
          <a:prstGeom prst="rect">
            <a:avLst/>
          </a:prstGeom>
        </p:spPr>
      </p:pic>
      <p:sp>
        <p:nvSpPr>
          <p:cNvPr id="32" name="Номер слайда 31">
            <a:extLst>
              <a:ext uri="{FF2B5EF4-FFF2-40B4-BE49-F238E27FC236}">
                <a16:creationId xmlns:a16="http://schemas.microsoft.com/office/drawing/2014/main" id="{9A035C60-B504-2047-D940-A4663655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690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0433E-685D-B118-F881-A26D70F0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1.jpg">
            <a:extLst>
              <a:ext uri="{FF2B5EF4-FFF2-40B4-BE49-F238E27FC236}">
                <a16:creationId xmlns:a16="http://schemas.microsoft.com/office/drawing/2014/main" id="{F86D18F8-85C2-FF92-B473-7FF6D8825E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>
            <a:extLst>
              <a:ext uri="{FF2B5EF4-FFF2-40B4-BE49-F238E27FC236}">
                <a16:creationId xmlns:a16="http://schemas.microsoft.com/office/drawing/2014/main" id="{D922C128-9DB8-3106-7CA7-B896B48DB2AD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1C84947F-2196-3E7F-B0F2-F138350280A8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8128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BF63AC2-C9D3-846D-2575-0D1779BBC464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01939E0B-1A52-A9C9-B684-F80E7E9C545E}"/>
              </a:ext>
            </a:extLst>
          </p:cNvPr>
          <p:cNvSpPr txBox="1">
            <a:spLocks/>
          </p:cNvSpPr>
          <p:nvPr/>
        </p:nvSpPr>
        <p:spPr>
          <a:xfrm>
            <a:off x="50800" y="44280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Задание №2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94986-8478-392A-9E67-E231859CED0B}"/>
              </a:ext>
            </a:extLst>
          </p:cNvPr>
          <p:cNvSpPr txBox="1"/>
          <p:nvPr/>
        </p:nvSpPr>
        <p:spPr>
          <a:xfrm>
            <a:off x="629779" y="843524"/>
            <a:ext cx="1035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  <a:defRPr sz="1800">
                <a:solidFill>
                  <a:srgbClr val="000000"/>
                </a:solidFill>
              </a:defRPr>
            </a:pPr>
            <a:r>
              <a:rPr lang="ru-RU" dirty="0">
                <a:solidFill>
                  <a:srgbClr val="000000"/>
                </a:solidFill>
              </a:rPr>
              <a:t>Построить профили изображения после применения фильтра Лапласа.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9EBF57C-14BB-86BA-0BA3-7B95AEE31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2" y="1326718"/>
            <a:ext cx="4680000" cy="468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88C88DD-A60C-6E56-FBDB-E0087C033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79" y="1322956"/>
            <a:ext cx="5026820" cy="4320000"/>
          </a:xfrm>
          <a:prstGeom prst="rect">
            <a:avLst/>
          </a:prstGeom>
        </p:spPr>
      </p:pic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B4C85C06-96B1-C181-2D08-C21FD047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302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D5DB-AF54-30E0-42E4-EB8E53B4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1.jpg">
            <a:extLst>
              <a:ext uri="{FF2B5EF4-FFF2-40B4-BE49-F238E27FC236}">
                <a16:creationId xmlns:a16="http://schemas.microsoft.com/office/drawing/2014/main" id="{094B9F2E-E876-5E0C-6BE9-82816072A2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>
            <a:extLst>
              <a:ext uri="{FF2B5EF4-FFF2-40B4-BE49-F238E27FC236}">
                <a16:creationId xmlns:a16="http://schemas.microsoft.com/office/drawing/2014/main" id="{A533117A-DDEC-D0B9-FA82-EDDD9E7B5457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ED8C2972-5533-9E85-CB2D-6AB26E1944FC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8128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9BCCDD1F-ED57-4FED-C723-3F7E5B088722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9FC62B41-3BFC-A096-AEB3-7A9E29FA9F29}"/>
              </a:ext>
            </a:extLst>
          </p:cNvPr>
          <p:cNvSpPr txBox="1">
            <a:spLocks/>
          </p:cNvSpPr>
          <p:nvPr/>
        </p:nvSpPr>
        <p:spPr>
          <a:xfrm>
            <a:off x="50800" y="44280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Задание №3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DDEFB-9705-D6DC-9AA0-565FC1CD21DE}"/>
              </a:ext>
            </a:extLst>
          </p:cNvPr>
          <p:cNvSpPr txBox="1"/>
          <p:nvPr/>
        </p:nvSpPr>
        <p:spPr>
          <a:xfrm>
            <a:off x="629779" y="843524"/>
            <a:ext cx="1035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  <a:defRPr sz="1800">
                <a:solidFill>
                  <a:srgbClr val="000000"/>
                </a:solidFill>
              </a:defRPr>
            </a:pPr>
            <a:r>
              <a:rPr lang="ru-RU" dirty="0">
                <a:solidFill>
                  <a:srgbClr val="000000"/>
                </a:solidFill>
              </a:rPr>
              <a:t>Построить горизонтальную проекцию и определить строки с максимумом интенсивности.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EADAAE-519A-C3CB-74AA-7A8EDB93F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9" y="1391245"/>
            <a:ext cx="5035886" cy="432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1FF14BF-FAA7-6CA3-8229-9B7D82C5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015" y="1391245"/>
            <a:ext cx="4680000" cy="4680000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4EF37448-AD2A-9A40-CE79-89DD8DB5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068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3BC7-1F4A-A578-6FE2-B722E167E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1.jpg">
            <a:extLst>
              <a:ext uri="{FF2B5EF4-FFF2-40B4-BE49-F238E27FC236}">
                <a16:creationId xmlns:a16="http://schemas.microsoft.com/office/drawing/2014/main" id="{68EA1346-566A-EBE5-179C-944D8476CA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>
            <a:extLst>
              <a:ext uri="{FF2B5EF4-FFF2-40B4-BE49-F238E27FC236}">
                <a16:creationId xmlns:a16="http://schemas.microsoft.com/office/drawing/2014/main" id="{5B235FC9-56E5-CB0A-FCE3-0FD9DD84D209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2DA50E9-3AAB-614B-D861-D30D09AE1EAA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8128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BECE11E-EBEB-1757-6852-BC39BA792652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D2D72073-2EBA-52C7-0EA1-1B7D79E5983A}"/>
              </a:ext>
            </a:extLst>
          </p:cNvPr>
          <p:cNvSpPr txBox="1">
            <a:spLocks/>
          </p:cNvSpPr>
          <p:nvPr/>
        </p:nvSpPr>
        <p:spPr>
          <a:xfrm>
            <a:off x="50800" y="44280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Задание №</a:t>
            </a:r>
            <a:r>
              <a:rPr lang="en-US" sz="2800" dirty="0"/>
              <a:t>4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37C716-BBC7-DBFE-287F-C3ECFAEFB294}"/>
              </a:ext>
            </a:extLst>
          </p:cNvPr>
          <p:cNvSpPr txBox="1"/>
          <p:nvPr/>
        </p:nvSpPr>
        <p:spPr>
          <a:xfrm>
            <a:off x="629779" y="843524"/>
            <a:ext cx="1035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  <a:defRPr sz="1800">
                <a:solidFill>
                  <a:srgbClr val="000000"/>
                </a:solidFill>
              </a:defRPr>
            </a:pPr>
            <a:r>
              <a:rPr lang="ru-RU" dirty="0">
                <a:solidFill>
                  <a:srgbClr val="000000"/>
                </a:solidFill>
              </a:rPr>
              <a:t>Построить вертикальную проекцию и определить столбцы с максимумом интенсивности.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E7DCC9-5A15-735B-4991-A19AACD45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9" y="1391245"/>
            <a:ext cx="5035886" cy="4320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92EEA8F-9208-DDBA-9712-B8DD923EE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015" y="1391245"/>
            <a:ext cx="4680000" cy="4680000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A7D49F37-2390-1182-5695-9A52DADB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109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AEF99-10AE-66A7-7414-06C68CEA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1.jpg">
            <a:extLst>
              <a:ext uri="{FF2B5EF4-FFF2-40B4-BE49-F238E27FC236}">
                <a16:creationId xmlns:a16="http://schemas.microsoft.com/office/drawing/2014/main" id="{67EB070D-ED57-E077-16E4-B0ABE23AF5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>
            <a:extLst>
              <a:ext uri="{FF2B5EF4-FFF2-40B4-BE49-F238E27FC236}">
                <a16:creationId xmlns:a16="http://schemas.microsoft.com/office/drawing/2014/main" id="{CAFEDBEA-D325-5B6D-ABE5-BA430C9EC619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7A14DC43-F250-0681-A944-894BC75B3AF2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8128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C80F6865-8E5D-AFE6-7754-177071C68F2E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E5466A91-1F17-55AD-C69E-AA3785F4BD27}"/>
              </a:ext>
            </a:extLst>
          </p:cNvPr>
          <p:cNvSpPr txBox="1">
            <a:spLocks/>
          </p:cNvSpPr>
          <p:nvPr/>
        </p:nvSpPr>
        <p:spPr>
          <a:xfrm>
            <a:off x="50800" y="44280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Задание №</a:t>
            </a:r>
            <a:r>
              <a:rPr lang="en-US" sz="2800" dirty="0"/>
              <a:t>5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E06F9-84F0-E12C-F63F-7E642C589903}"/>
              </a:ext>
            </a:extLst>
          </p:cNvPr>
          <p:cNvSpPr txBox="1"/>
          <p:nvPr/>
        </p:nvSpPr>
        <p:spPr>
          <a:xfrm>
            <a:off x="629779" y="843524"/>
            <a:ext cx="1071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  <a:defRPr sz="1800">
                <a:solidFill>
                  <a:srgbClr val="000000"/>
                </a:solidFill>
              </a:defRPr>
            </a:pPr>
            <a:r>
              <a:rPr lang="ru-RU" dirty="0">
                <a:solidFill>
                  <a:srgbClr val="000000"/>
                </a:solidFill>
              </a:rPr>
              <a:t>Построить профили и проекции после бинаризации изображения с использованием метода Оцу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42BAA404-E42D-BDCD-9BED-E0DF7DE1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B559AE1-0FE2-E246-A34D-02FF2AB59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9" y="1283667"/>
            <a:ext cx="4896641" cy="4320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F37912F-696E-9223-9FCC-904A1EC9E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000" y="1283667"/>
            <a:ext cx="468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26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BC4BA-B635-0D7A-D3BE-56335613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1.jpg">
            <a:extLst>
              <a:ext uri="{FF2B5EF4-FFF2-40B4-BE49-F238E27FC236}">
                <a16:creationId xmlns:a16="http://schemas.microsoft.com/office/drawing/2014/main" id="{7DCD14D6-A541-012C-5376-5D51CEF096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>
            <a:extLst>
              <a:ext uri="{FF2B5EF4-FFF2-40B4-BE49-F238E27FC236}">
                <a16:creationId xmlns:a16="http://schemas.microsoft.com/office/drawing/2014/main" id="{6F7D43E4-1268-46A9-2159-EA16B5344F87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0BB311C-27C3-5ABE-60E0-E04B1C7E082E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8128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F71EC12-D47E-59D9-97BB-A2C77FFC5574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890EDE31-7332-648D-2EC3-DC4FB5F30999}"/>
              </a:ext>
            </a:extLst>
          </p:cNvPr>
          <p:cNvSpPr txBox="1">
            <a:spLocks/>
          </p:cNvSpPr>
          <p:nvPr/>
        </p:nvSpPr>
        <p:spPr>
          <a:xfrm>
            <a:off x="50800" y="44280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Задание №</a:t>
            </a:r>
            <a:r>
              <a:rPr lang="en-US" sz="2800" dirty="0"/>
              <a:t>5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40E2F-4EAD-D389-9028-DF5A12E82C13}"/>
              </a:ext>
            </a:extLst>
          </p:cNvPr>
          <p:cNvSpPr txBox="1"/>
          <p:nvPr/>
        </p:nvSpPr>
        <p:spPr>
          <a:xfrm>
            <a:off x="629779" y="843524"/>
            <a:ext cx="1071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  <a:defRPr sz="1800">
                <a:solidFill>
                  <a:srgbClr val="000000"/>
                </a:solidFill>
              </a:defRPr>
            </a:pPr>
            <a:r>
              <a:rPr lang="ru-RU" dirty="0">
                <a:solidFill>
                  <a:srgbClr val="000000"/>
                </a:solidFill>
              </a:rPr>
              <a:t>Построить профили и проекции после бинаризации изображения с использованием метода Оцу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1931AE6C-4AE0-20AF-1952-128A6C8E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A354B8-27C8-2FE3-D71A-93974E777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9" y="1283667"/>
            <a:ext cx="5100069" cy="432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B425BD1-14F1-0CB6-BE9A-CA42617A1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439" y="1283667"/>
            <a:ext cx="468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0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2850-8474-0272-5FE2-041A27BD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1.jpg">
            <a:extLst>
              <a:ext uri="{FF2B5EF4-FFF2-40B4-BE49-F238E27FC236}">
                <a16:creationId xmlns:a16="http://schemas.microsoft.com/office/drawing/2014/main" id="{F92189FE-F8C9-86EE-83A5-E41A7F320A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779" y="5912693"/>
            <a:ext cx="621059" cy="49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4">
            <a:extLst>
              <a:ext uri="{FF2B5EF4-FFF2-40B4-BE49-F238E27FC236}">
                <a16:creationId xmlns:a16="http://schemas.microsoft.com/office/drawing/2014/main" id="{EA0E4190-F6D7-9293-DABD-EE8F5D095F2A}"/>
              </a:ext>
            </a:extLst>
          </p:cNvPr>
          <p:cNvSpPr/>
          <p:nvPr/>
        </p:nvSpPr>
        <p:spPr>
          <a:xfrm>
            <a:off x="1250838" y="6022793"/>
            <a:ext cx="413711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>
                <a:solidFill>
                  <a:srgbClr val="535353"/>
                </a:solidFill>
              </a:defRPr>
            </a:lvl1pPr>
          </a:lstStyle>
          <a:p>
            <a:pPr>
              <a:defRPr sz="1800"/>
            </a:pPr>
            <a:r>
              <a:rPr lang="ru-RU" sz="1200" dirty="0"/>
              <a:t>Распознавание образов и компьютерное зрение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BFB12711-4870-BBDA-DDA8-6EE54F44EBE1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8128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CEAE7A8A-B26A-A3C4-DBD2-00EEEE2E1430}"/>
              </a:ext>
            </a:extLst>
          </p:cNvPr>
          <p:cNvSpPr txBox="1">
            <a:spLocks/>
          </p:cNvSpPr>
          <p:nvPr/>
        </p:nvSpPr>
        <p:spPr>
          <a:xfrm>
            <a:off x="0" y="4991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endParaRPr lang="ru-RU" sz="2800" dirty="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CDDC9A51-6AC7-0919-5DB0-D2D1E65D6798}"/>
              </a:ext>
            </a:extLst>
          </p:cNvPr>
          <p:cNvSpPr txBox="1">
            <a:spLocks/>
          </p:cNvSpPr>
          <p:nvPr/>
        </p:nvSpPr>
        <p:spPr>
          <a:xfrm>
            <a:off x="50800" y="44280"/>
            <a:ext cx="12192000" cy="728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ru-RU" sz="2800" dirty="0"/>
              <a:t>Ответы на контрольные вопросы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5439A9-72DD-F7C6-0F90-CF42E74E7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22" y="1752451"/>
            <a:ext cx="11670155" cy="33530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7ADEA4-92F4-1C19-A346-79E6A117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62AA-6FF4-4CA2-8039-65A321A80026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5610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00"/>
          <p:cNvSpPr/>
          <p:nvPr/>
        </p:nvSpPr>
        <p:spPr>
          <a:xfrm>
            <a:off x="889784" y="1535597"/>
            <a:ext cx="7562325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900">
                <a:solidFill>
                  <a:srgbClr val="535353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000" b="1" dirty="0" err="1">
                <a:solidFill>
                  <a:schemeClr val="bg1"/>
                </a:solidFill>
              </a:rPr>
              <a:t>Спасибо</a:t>
            </a:r>
            <a:r>
              <a:rPr sz="6000" b="1" dirty="0">
                <a:solidFill>
                  <a:schemeClr val="bg1"/>
                </a:solidFill>
              </a:rPr>
              <a:t> </a:t>
            </a:r>
            <a:r>
              <a:rPr sz="6000" b="1" dirty="0" err="1">
                <a:solidFill>
                  <a:schemeClr val="bg1"/>
                </a:solidFill>
              </a:rPr>
              <a:t>за</a:t>
            </a:r>
            <a:r>
              <a:rPr sz="6000" b="1" dirty="0">
                <a:solidFill>
                  <a:schemeClr val="bg1"/>
                </a:solidFill>
              </a:rPr>
              <a:t> </a:t>
            </a:r>
            <a:r>
              <a:rPr sz="6000" b="1" dirty="0" err="1">
                <a:solidFill>
                  <a:schemeClr val="bg1"/>
                </a:solidFill>
              </a:rPr>
              <a:t>внимание</a:t>
            </a:r>
            <a:r>
              <a:rPr sz="6000" b="1" dirty="0">
                <a:solidFill>
                  <a:schemeClr val="bg1"/>
                </a:solidFill>
              </a:rPr>
              <a:t>!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83" y="4848725"/>
            <a:ext cx="1324027" cy="1515191"/>
          </a:xfrm>
          <a:prstGeom prst="rect">
            <a:avLst/>
          </a:prstGeom>
        </p:spPr>
      </p:pic>
      <p:sp>
        <p:nvSpPr>
          <p:cNvPr id="7" name="Shape 200"/>
          <p:cNvSpPr/>
          <p:nvPr/>
        </p:nvSpPr>
        <p:spPr>
          <a:xfrm>
            <a:off x="8452109" y="4723743"/>
            <a:ext cx="3105976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900">
                <a:solidFill>
                  <a:srgbClr val="535353"/>
                </a:solidFill>
              </a:defRPr>
            </a:lvl1pPr>
          </a:lstStyle>
          <a:p>
            <a:r>
              <a:rPr lang="ru-RU" sz="1400" dirty="0">
                <a:solidFill>
                  <a:schemeClr val="bg1"/>
                </a:solidFill>
              </a:rPr>
              <a:t>Национальный </a:t>
            </a:r>
            <a:r>
              <a:rPr lang="ru-RU" sz="1600" dirty="0">
                <a:solidFill>
                  <a:schemeClr val="bg1"/>
                </a:solidFill>
              </a:rPr>
              <a:t>исследовательский</a:t>
            </a:r>
          </a:p>
          <a:p>
            <a:r>
              <a:rPr lang="ru-RU" sz="1400" dirty="0">
                <a:solidFill>
                  <a:schemeClr val="bg1"/>
                </a:solidFill>
              </a:rPr>
              <a:t>Томский государственный университет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8" name="Shape 200"/>
          <p:cNvSpPr/>
          <p:nvPr/>
        </p:nvSpPr>
        <p:spPr>
          <a:xfrm>
            <a:off x="8452109" y="5361104"/>
            <a:ext cx="2996972" cy="104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900">
                <a:solidFill>
                  <a:srgbClr val="535353"/>
                </a:solidFill>
              </a:defRPr>
            </a:lvl1pPr>
          </a:lstStyle>
          <a:p>
            <a:r>
              <a:rPr lang="ru-RU" sz="1200" dirty="0">
                <a:solidFill>
                  <a:schemeClr val="bg1"/>
                </a:solidFill>
              </a:rPr>
              <a:t>634050, г. Томск, пр. Ленина, 36</a:t>
            </a:r>
          </a:p>
          <a:p>
            <a:r>
              <a:rPr lang="ru-RU" sz="1200" dirty="0">
                <a:solidFill>
                  <a:schemeClr val="bg1"/>
                </a:solidFill>
              </a:rPr>
              <a:t>+7 (3822) 52-98-52, +7 (3822) 52-95-85 (факс)</a:t>
            </a:r>
          </a:p>
          <a:p>
            <a:r>
              <a:rPr lang="ru-RU" sz="1200" dirty="0">
                <a:solidFill>
                  <a:schemeClr val="bg1"/>
                </a:solidFill>
              </a:rPr>
              <a:t>rector@tsu.ru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www.tsu.ru</a:t>
            </a:r>
          </a:p>
        </p:txBody>
      </p:sp>
    </p:spTree>
    <p:extLst>
      <p:ext uri="{BB962C8B-B14F-4D97-AF65-F5344CB8AC3E}">
        <p14:creationId xmlns:p14="http://schemas.microsoft.com/office/powerpoint/2010/main" val="26020129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3308</TotalTime>
  <Words>428</Words>
  <Application>Microsoft Office PowerPoint</Application>
  <PresentationFormat>Широкоэкранный</PresentationFormat>
  <Paragraphs>62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Валерий</dc:creator>
  <cp:lastModifiedBy>Валерий Шмаков</cp:lastModifiedBy>
  <cp:revision>64</cp:revision>
  <cp:lastPrinted>2026-05-19T07:48:36Z</cp:lastPrinted>
  <dcterms:created xsi:type="dcterms:W3CDTF">2025-10-16T13:00:26Z</dcterms:created>
  <dcterms:modified xsi:type="dcterms:W3CDTF">2026-09-18T07:56:16Z</dcterms:modified>
</cp:coreProperties>
</file>